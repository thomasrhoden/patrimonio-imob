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s. Apresentar o nome do projeto e o tema: organizar os imóveis de uma pessoa em um sistema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Problema da persona (planilhas soltas) e o que o sistema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Personas fictícias, base para os requisitos (stakeholders.md).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Os 10 RF e as 9 RN estão implementados; mostrar a priorização.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Explicar o caminho de um clique até o banco e as 3 regras.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Mostrar o diagrama ER: os 6 grupos por cor, as relações 1:N com pé de galinha, o N:N imóvel × proprietário pela imovel_proprietario (com o percentual) e onde as views e a procedure são usadas.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Ler a fórmula e o exemplo do imóvel 1. Deixar claro que é estimativa, não o IPTU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 min. Seguir o roteiro_apresentacao.md: login, dashboard, novo imóvel com erro, co-propriedade, avaliação, dashboard atualizado.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 O que já existe e as limitações honestas.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 Fechar com o que foi entregue e o que fica para depois.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8EC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Patrimônio Imob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Calibri"/>
              </a:rPr>
              <a:t>Gestão do patrimônio imobiliário pessoal — RS, SC e 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6E6F5"/>
                </a:solidFill>
                <a:latin typeface="Calibri"/>
              </a:rPr>
              <a:t>Thomas Gonçalves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6E6F5"/>
                </a:solidFill>
                <a:latin typeface="Calibri"/>
              </a:rPr>
              <a:t>SENAC — Técnico em Desenvolvimento de Sistemas · Projeto Integrador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Problema 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663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937760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Imóveis controlados em planilhas soltas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Não se sabe quanto o patrimônio vale hoje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Esquece quanto pagou em cada imóvel e quando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Imóvel dividido: qual a parte de cada dono?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IPTU e gastos sem uma visão única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94960" cy="46634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Sistema desktop, offline, no computador da pessoa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Cadastrar imóveis, donos e percentual de cada um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Registrar avaliações, despesas e movimentações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Dashboard: valor estimado, valorização e IPTU estimado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• </a:t>
            </a:r>
            <a:r>
              <a:rPr sz="2000" b="0">
                <a:solidFill>
                  <a:srgbClr val="444444"/>
                </a:solidFill>
                <a:latin typeface="Calibri"/>
              </a:rPr>
              <a:t>Foco em cidades do Sul do Brasil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Público-alvo e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Pessoas físicas com um ou mais imóveis (morar, alugar ou vender), sozinhas ou em sociedade com a família. Personas fictícias: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49240" cy="4023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Marina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6DA4"/>
                </a:solidFill>
                <a:latin typeface="Calibri"/>
              </a:rPr>
              <a:t>42 anos · Porto Alegre (RS)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493776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Apartamento onde mora, um apartamento alugado e casa de praia em SC dividida com o irmão (50% / 50%).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493776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0">
                <a:solidFill>
                  <a:srgbClr val="444444"/>
                </a:solidFill>
                <a:latin typeface="Calibri"/>
              </a:rPr>
              <a:t>Ver total investido, valor estimado e valorização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0">
                <a:solidFill>
                  <a:srgbClr val="444444"/>
                </a:solidFill>
                <a:latin typeface="Calibri"/>
              </a:rPr>
              <a:t>Registrar avaliações, despesas e aluguel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0">
                <a:solidFill>
                  <a:srgbClr val="444444"/>
                </a:solidFill>
                <a:latin typeface="Calibri"/>
              </a:rPr>
              <a:t>Saber a parte de cada dono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03120"/>
            <a:ext cx="5349240" cy="4023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Roberto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9377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E6DA4"/>
                </a:solidFill>
                <a:latin typeface="Calibri"/>
              </a:rPr>
              <a:t>63 anos · Caxias do Sul (RS)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93776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Aposentado. Casa, sala comercial alugada e um terreno em Pelotas herdado com duas irmãs.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43400"/>
            <a:ext cx="4937760" cy="1737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0">
                <a:solidFill>
                  <a:srgbClr val="444444"/>
                </a:solidFill>
                <a:latin typeface="Calibri"/>
              </a:rPr>
              <a:t>Ter uma ideia do IPTU anual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0">
                <a:solidFill>
                  <a:srgbClr val="444444"/>
                </a:solidFill>
                <a:latin typeface="Calibri"/>
              </a:rPr>
              <a:t>Registrar aluguel e manutenção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0">
                <a:solidFill>
                  <a:srgbClr val="444444"/>
                </a:solidFill>
                <a:latin typeface="Calibri"/>
              </a:rPr>
              <a:t>Sistema simples, sem cadastro online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Requisitos e priorização (MoSCoW)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46304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4630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25880"/>
            <a:ext cx="94183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RF01 cadastro de imóveis · RF02 validações · RF03 valor estimado · RF05 dashboard · RF06 listagem · RF07 proprietários e co-propriedade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58568"/>
            <a:ext cx="1463040" cy="77724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58568"/>
            <a:ext cx="14630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58568"/>
            <a:ext cx="94183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RF04 IPTU estimado · RF08 avaliações · RF09 despesas · cadastro de acessos · views e procedure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91256"/>
            <a:ext cx="1463040" cy="77724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91256"/>
            <a:ext cx="14630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91256"/>
            <a:ext cx="94183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RF10 movimentações · interface em português e inglês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1463040" cy="77724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123944"/>
            <a:ext cx="146304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Won't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23944"/>
            <a:ext cx="941832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perfis de usuário · exportação de relatórios · testes automatizados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66360"/>
            <a:ext cx="11064240" cy="10515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0368"/>
            <a:ext cx="1060704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44444"/>
                </a:solidFill>
                <a:latin typeface="Calibri"/>
              </a:rPr>
              <a:t>Regras de negócio (RN01–RN09): </a:t>
            </a:r>
            <a:r>
              <a:rPr sz="1700" b="0">
                <a:solidFill>
                  <a:srgbClr val="444444"/>
                </a:solidFill>
                <a:latin typeface="Calibri"/>
              </a:rPr>
              <a:t>área total &gt; 0 · área privativa ≤ área total · valor de compra ≥ 0 · status configurável · soma dos percentuais dos donos ≤ 100% · fórmulas de valor estimado, valorização e IPTU.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Arquitetura: MVC + DAO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920240" cy="1737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920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92024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Tkinter / ttk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telas e cliques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2148840"/>
            <a:ext cx="310896" cy="365760"/>
          </a:xfrm>
          <a:prstGeom prst="rightArrow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463040"/>
            <a:ext cx="1920240" cy="1737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554480"/>
            <a:ext cx="1920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48840"/>
            <a:ext cx="192024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liga tela e dados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mostra mensagens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82312" y="2148840"/>
            <a:ext cx="310896" cy="365760"/>
          </a:xfrm>
          <a:prstGeom prst="rightArrow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463040"/>
            <a:ext cx="1920240" cy="1737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54480"/>
            <a:ext cx="1920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48840"/>
            <a:ext cx="192024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dados + validação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das regras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8312" y="2148840"/>
            <a:ext cx="310896" cy="365760"/>
          </a:xfrm>
          <a:prstGeom prst="rightArrow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463040"/>
            <a:ext cx="1920240" cy="17373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54480"/>
            <a:ext cx="1920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48840"/>
            <a:ext cx="192024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único lugar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com SQL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54312" y="2148840"/>
            <a:ext cx="310896" cy="365760"/>
          </a:xfrm>
          <a:prstGeom prst="rightArrow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463040"/>
            <a:ext cx="1920240" cy="1737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554480"/>
            <a:ext cx="1920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48840"/>
            <a:ext cx="1920240" cy="1005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13 tabelas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3 views · 1 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66160"/>
            <a:ext cx="6766560" cy="2651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1">
                <a:solidFill>
                  <a:srgbClr val="444444"/>
                </a:solidFill>
                <a:latin typeface="Calibri"/>
              </a:rPr>
              <a:t>SQL só nos DAOs</a:t>
            </a:r>
            <a:r>
              <a:rPr sz="1900" b="0">
                <a:solidFill>
                  <a:srgbClr val="444444"/>
                </a:solidFill>
                <a:latin typeface="Calibri"/>
              </a:rPr>
              <a:t> (views e procedure também são chamadas pelos DAOs)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1">
                <a:solidFill>
                  <a:srgbClr val="444444"/>
                </a:solidFill>
                <a:latin typeface="Calibri"/>
              </a:rPr>
              <a:t>Validação nos models</a:t>
            </a:r>
            <a:r>
              <a:rPr sz="1900" b="0">
                <a:solidFill>
                  <a:srgbClr val="444444"/>
                </a:solidFill>
                <a:latin typeface="Calibri"/>
              </a:rPr>
              <a:t>: vale no Salvar e no Alterar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1">
                <a:solidFill>
                  <a:srgbClr val="444444"/>
                </a:solidFill>
                <a:latin typeface="Calibri"/>
              </a:rPr>
              <a:t>A view nunca acessa o banco</a:t>
            </a:r>
            <a:r>
              <a:rPr sz="19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1">
                <a:solidFill>
                  <a:srgbClr val="444444"/>
                </a:solidFill>
                <a:latin typeface="Calibri"/>
              </a:rPr>
              <a:t>Erros do banco</a:t>
            </a:r>
            <a:r>
              <a:rPr sz="1900" b="0">
                <a:solidFill>
                  <a:srgbClr val="444444"/>
                </a:solidFill>
                <a:latin typeface="Calibri"/>
              </a:rPr>
              <a:t> viram mensagens amigáveis (classe base DAO)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3566160"/>
            <a:ext cx="4023360" cy="26060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657600"/>
            <a:ext cx="3657600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44444"/>
                </a:solidFill>
                <a:latin typeface="Calibri"/>
              </a:rPr>
              <a:t>Tecnologias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Python 3.10+ · Tkinter/ttk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MySQL/MariaDB (XAMPP)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MySQL Workbench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mysql-connector-python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python-dotenv ·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pic>
        <p:nvPicPr>
          <p:cNvPr id="6" name="Picture 5" descr="diagrama_b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0"/>
            <a:ext cx="8686800" cy="4910879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052560" y="1188720"/>
            <a:ext cx="2971800" cy="5120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444444"/>
                </a:solidFill>
                <a:latin typeface="Calibri"/>
              </a:rPr>
              <a:t>• </a:t>
            </a:r>
            <a:r>
              <a:rPr sz="1250" b="1">
                <a:solidFill>
                  <a:srgbClr val="444444"/>
                </a:solidFill>
                <a:latin typeface="Calibri"/>
              </a:rPr>
              <a:t>13 tabelas</a:t>
            </a:r>
            <a:r>
              <a:rPr sz="1250" b="0">
                <a:solidFill>
                  <a:srgbClr val="444444"/>
                </a:solidFill>
                <a:latin typeface="Calibri"/>
              </a:rPr>
              <a:t> em 6 grupos; FKs sem CASCADE: o banco impede apagar registro em uso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44444"/>
                </a:solidFill>
                <a:latin typeface="Calibri"/>
              </a:rPr>
              <a:t>• </a:t>
            </a:r>
            <a:r>
              <a:rPr sz="1250" b="1">
                <a:solidFill>
                  <a:srgbClr val="444444"/>
                </a:solidFill>
                <a:latin typeface="Calibri"/>
              </a:rPr>
              <a:t>1:N</a:t>
            </a:r>
            <a:r>
              <a:rPr sz="1250" b="0">
                <a:solidFill>
                  <a:srgbClr val="444444"/>
                </a:solidFill>
                <a:latin typeface="Calibri"/>
              </a:rPr>
              <a:t> (pé de galinha): estado → cidade → imóvel → avaliações, despesas, movimentações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44444"/>
                </a:solidFill>
                <a:latin typeface="Calibri"/>
              </a:rPr>
              <a:t>• </a:t>
            </a:r>
            <a:r>
              <a:rPr sz="1250" b="1">
                <a:solidFill>
                  <a:srgbClr val="444444"/>
                </a:solidFill>
                <a:latin typeface="Calibri"/>
              </a:rPr>
              <a:t>N:N</a:t>
            </a:r>
            <a:r>
              <a:rPr sz="1250" b="0">
                <a:solidFill>
                  <a:srgbClr val="444444"/>
                </a:solidFill>
                <a:latin typeface="Calibri"/>
              </a:rPr>
              <a:t>: imovel_proprietario, com o percentual de cada dono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44444"/>
                </a:solidFill>
                <a:latin typeface="Calibri"/>
              </a:rPr>
              <a:t>• </a:t>
            </a:r>
            <a:r>
              <a:rPr sz="1250" b="1">
                <a:solidFill>
                  <a:srgbClr val="444444"/>
                </a:solidFill>
                <a:latin typeface="Calibri"/>
              </a:rPr>
              <a:t>VW_PATRIMONIO_POR_CIDADE</a:t>
            </a:r>
            <a:r>
              <a:rPr sz="1250" b="0">
                <a:solidFill>
                  <a:srgbClr val="444444"/>
                </a:solidFill>
                <a:latin typeface="Calibri"/>
              </a:rPr>
              <a:t>: aba Resumo por cidade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44444"/>
                </a:solidFill>
                <a:latin typeface="Calibri"/>
              </a:rPr>
              <a:t>• </a:t>
            </a:r>
            <a:r>
              <a:rPr sz="1250" b="1">
                <a:solidFill>
                  <a:srgbClr val="444444"/>
                </a:solidFill>
                <a:latin typeface="Calibri"/>
              </a:rPr>
              <a:t>VW_RESUMO_POR_PROPRIETARIO</a:t>
            </a:r>
            <a:r>
              <a:rPr sz="1250" b="0">
                <a:solidFill>
                  <a:srgbClr val="444444"/>
                </a:solidFill>
                <a:latin typeface="Calibri"/>
              </a:rPr>
              <a:t>: aba Por proprietário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444444"/>
                </a:solidFill>
                <a:latin typeface="Calibri"/>
              </a:rPr>
              <a:t>• </a:t>
            </a:r>
            <a:r>
              <a:rPr sz="1250" b="1">
                <a:solidFill>
                  <a:srgbClr val="444444"/>
                </a:solidFill>
                <a:latin typeface="Calibri"/>
              </a:rPr>
              <a:t>SP_ADICIONAR_PROPRIETARIO</a:t>
            </a:r>
            <a:r>
              <a:rPr sz="1250" b="0">
                <a:solidFill>
                  <a:srgbClr val="444444"/>
                </a:solidFill>
                <a:latin typeface="Calibri"/>
              </a:rPr>
              <a:t>: grava cada dono e barra soma &gt; 100% (SIGNAL SQLSTATE '45000')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Função do IPTU estimado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675120" cy="30175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64008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@staticmethod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def calcular_iptu_estimado(valor_estimado, aliquota):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    """...(docstring omitida)..."""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    # sem referência cadastrada para a cidade + tipo: não estima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    if not aliquota: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        return 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6E6E6"/>
                </a:solidFill>
                <a:latin typeface="Consolas"/>
              </a:rPr>
              <a:t>    return valor_estimado * aliquota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6675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77777"/>
                </a:solidFill>
                <a:latin typeface="Calibri"/>
              </a:rPr>
              <a:t>app/core/relatorio.py — classe Relatorio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325880"/>
            <a:ext cx="4114800" cy="30175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3749039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4444"/>
                </a:solidFill>
                <a:latin typeface="Calibri"/>
              </a:rPr>
              <a:t>Fórmula (RN02)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IPTU estimado = valor estimado × alíquota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444444"/>
                </a:solidFill>
                <a:latin typeface="Calibri"/>
              </a:rPr>
              <a:t>Exemplo (imóvel 1, Porto Alegre)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R$ 535.000,00 × 0,0055 = R$ 2.942,50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1">
                <a:solidFill>
                  <a:srgbClr val="444444"/>
                </a:solidFill>
                <a:latin typeface="Calibri"/>
              </a:rPr>
              <a:t>Valor estimado</a:t>
            </a:r>
            <a:r>
              <a:rPr sz="1700" b="0">
                <a:solidFill>
                  <a:srgbClr val="444444"/>
                </a:solidFill>
                <a:latin typeface="Calibri"/>
              </a:rPr>
              <a:t> = última avaliação; sem avaliação, área privativa × m²; senão, valor de compra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</a:t>
            </a:r>
            <a:r>
              <a:rPr sz="1700" b="1">
                <a:solidFill>
                  <a:srgbClr val="444444"/>
                </a:solidFill>
                <a:latin typeface="Calibri"/>
              </a:rPr>
              <a:t>Alíquota</a:t>
            </a:r>
            <a:r>
              <a:rPr sz="1700" b="0">
                <a:solidFill>
                  <a:srgbClr val="444444"/>
                </a:solidFill>
                <a:latin typeface="Calibri"/>
              </a:rPr>
              <a:t> por cidade + tipo, guardada como fração (0.0055 = 0,55%). É uma estimativa: o IPTU real usa o valor venal da prefeitura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pic>
        <p:nvPicPr>
          <p:cNvPr id="6" name="Picture 5" descr="03_dashboard_por_imovel_ip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965" y="1143000"/>
            <a:ext cx="6245030" cy="4754880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5943600"/>
            <a:ext cx="69494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Dashboard: totais e IPTU por imóvel</a:t>
            </a:r>
          </a:p>
        </p:txBody>
      </p:sp>
      <p:pic>
        <p:nvPicPr>
          <p:cNvPr id="8" name="Picture 7" descr="05b_proprietarios_erro_so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6380" y="1143000"/>
            <a:ext cx="3183959" cy="2240280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589520" y="3383280"/>
            <a:ext cx="4297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Co-propriedade: soma &gt; 100% é barrada</a:t>
            </a:r>
          </a:p>
        </p:txBody>
      </p:sp>
      <p:pic>
        <p:nvPicPr>
          <p:cNvPr id="10" name="Picture 9" descr="06_avaliacoes_do_imov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6546" y="3794760"/>
            <a:ext cx="2723628" cy="2240280"/>
          </a:xfrm>
          <a:prstGeom prst="rect">
            <a:avLst/>
          </a:prstGeom>
          <a:ln w="9525">
            <a:solidFill>
              <a:srgbClr val="BBBBBB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589520" y="6035040"/>
            <a:ext cx="42976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Avaliação com valorização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Segurança e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7548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O que já existe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931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Senha só como hash SHA-256 com salt; campo mascarado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Credenciais do banco no .env, fora do repositório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Proprietário: só o nome é obrigatório (minimização)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Sem dados de inquilino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Dados da demonstração fictícios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94960" cy="47548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Limitações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931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Sem perfis: sistema pessoal, o login só protege com senha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CPF aparece em texto na lista de proprietários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Para senhas, o ideal seria bcrypt ou Argon2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Sem tamanho mínimo de senha nem bloqueio após erros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1887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Calibri"/>
              </a:rPr>
              <a:t>Patrimônio Imob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343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Entregue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931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RF01–RF10 e RN01–RN09 implementados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MVC + DAO, 13 tabelas, 3 views e 1 procedure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Dashboard: valor estimado, valorização, IPTU e parte de cada dono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Interface em português e inglês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Documentação: requisitos, casos de uso, MoSCoW, backlog, testes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94960" cy="43434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Próximos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931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Despesas e movimentações no dashboard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Exportação de relatórios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IPTU com faixas progressivas e mais cidades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Testes automatizados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• </a:t>
            </a:r>
            <a:r>
              <a:rPr sz="1900" b="0">
                <a:solidFill>
                  <a:srgbClr val="444444"/>
                </a:solidFill>
                <a:latin typeface="Calibri"/>
              </a:rPr>
              <a:t>Hash de senha mais forte (bcrypt/Argon2)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Obrigado!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